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Inter" panose="020B0604020202020204" charset="0"/>
      <p:regular r:id="rId17"/>
    </p:embeddedFont>
    <p:embeddedFont>
      <p:font typeface="Inter Bold" panose="020B0604020202020204" charset="0"/>
      <p:regular r:id="rId18"/>
    </p:embeddedFont>
    <p:embeddedFont>
      <p:font typeface="Petrona Bold" panose="020B0604020202020204" charset="-94"/>
      <p:regular r:id="rId19"/>
    </p:embeddedFont>
    <p:embeddedFont>
      <p:font typeface="Petrona Light" panose="020B0604020202020204" charset="-94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0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7966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886843"/>
            <a:ext cx="4722763" cy="930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Git ve GitHub'la Organizasyonda İşbirliği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3925119" y="3029769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876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Branch, Pull Request ve Merge</a:t>
            </a: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ile ekip çalışmasını profesyonelleştirin</a:t>
            </a:r>
            <a:endParaRPr lang="en-US" sz="1100" dirty="0"/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7016FB33-6C6B-D349-2C48-84AC5CE304C3}"/>
              </a:ext>
            </a:extLst>
          </p:cNvPr>
          <p:cNvSpPr/>
          <p:nvPr/>
        </p:nvSpPr>
        <p:spPr>
          <a:xfrm>
            <a:off x="7993626" y="4867861"/>
            <a:ext cx="1111456" cy="226814"/>
          </a:xfrm>
          <a:prstGeom prst="rect">
            <a:avLst/>
          </a:prstGeom>
          <a:solidFill>
            <a:srgbClr val="0D0626"/>
          </a:solidFill>
          <a:ln>
            <a:solidFill>
              <a:srgbClr val="0D0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EB6FB547-7410-530A-FA24-1DCFA6C4EC94}"/>
              </a:ext>
            </a:extLst>
          </p:cNvPr>
          <p:cNvSpPr txBox="1"/>
          <p:nvPr/>
        </p:nvSpPr>
        <p:spPr>
          <a:xfrm>
            <a:off x="7633930" y="4483510"/>
            <a:ext cx="20279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dirty="0">
                <a:solidFill>
                  <a:srgbClr val="FF0000"/>
                </a:solidFill>
              </a:rPr>
              <a:t>Nisa ERDEM</a:t>
            </a:r>
            <a:endParaRPr lang="tr-TR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31081"/>
            <a:ext cx="4722763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Git Neden Var?</a:t>
            </a:r>
            <a:endParaRPr lang="en-US" sz="27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054001"/>
            <a:ext cx="4722763" cy="120506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00460" y="1201192"/>
            <a:ext cx="4371231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Sürüm Kontrolü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700460" y="1493937"/>
            <a:ext cx="4371231" cy="617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Git, dosya değişikliklerini sürümleyerek projenin her anki halini kaydeder. Her commit, kodun o anki durumunun bir "anlık fotoğrafı"dır.</a:t>
            </a:r>
            <a:endParaRPr lang="en-US" sz="10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2383631"/>
            <a:ext cx="4722763" cy="120506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00460" y="2530822"/>
            <a:ext cx="4371231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Geri Dönüş Özgürlüğü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700460" y="2823567"/>
            <a:ext cx="4371231" cy="617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"Ne yaptım, ne zaman bozdu?" sorusunu geri sarılabilir hale getirir. Hatalı bir değişikliği tek komutla geri alabilir, önceki kararlı sürüme dönebilirsiniz.</a:t>
            </a:r>
            <a:endParaRPr lang="en-US" sz="10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3713262"/>
            <a:ext cx="4722763" cy="99908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00460" y="3860453"/>
            <a:ext cx="4371231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Değişiklik Geçmişi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700460" y="4153198"/>
            <a:ext cx="4371231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Geçmiş farkları görmek, kimin ne zaman ne değiştirdiğini izlemek ve ekip içi şeffaflığı sağlamak Git'in temel gücüdür.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1195"/>
            <a:ext cx="8151763" cy="363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GitHub Ne İşe Yarar?</a:t>
            </a:r>
            <a:endParaRPr lang="en-US" sz="2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981670"/>
            <a:ext cx="5204073" cy="29489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75077" y="2140595"/>
            <a:ext cx="2677492" cy="631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GitHub, Git deposunu barındıran </a:t>
            </a:r>
            <a:r>
              <a:rPr lang="en-US" sz="850" b="1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bulut tabanlı depolama ve ortak çalışma platformudur.</a:t>
            </a: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Kodun paylaşılması, yönetilmesi ve dünyaya açılması için güçlü araçlar sunar.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496119" y="4125292"/>
            <a:ext cx="2659559" cy="627013"/>
          </a:xfrm>
          <a:prstGeom prst="roundRect">
            <a:avLst>
              <a:gd name="adj" fmla="val 7419"/>
            </a:avLst>
          </a:prstGeom>
          <a:solidFill>
            <a:srgbClr val="2F1D63"/>
          </a:solidFill>
          <a:ln w="4763">
            <a:solidFill>
              <a:srgbClr val="48367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3"/>
          <p:cNvSpPr/>
          <p:nvPr/>
        </p:nvSpPr>
        <p:spPr>
          <a:xfrm>
            <a:off x="611609" y="4240783"/>
            <a:ext cx="2428577" cy="186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📦</a:t>
            </a:r>
            <a:r>
              <a:rPr lang="en-US" sz="11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Depolama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11609" y="4479057"/>
            <a:ext cx="2428577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Kodunuzu güvenli şekilde bulutta saklar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3242146" y="4125292"/>
            <a:ext cx="2659633" cy="627013"/>
          </a:xfrm>
          <a:prstGeom prst="roundRect">
            <a:avLst>
              <a:gd name="adj" fmla="val 7419"/>
            </a:avLst>
          </a:prstGeom>
          <a:solidFill>
            <a:srgbClr val="2F1D63"/>
          </a:solidFill>
          <a:ln w="4763">
            <a:solidFill>
              <a:srgbClr val="48367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6"/>
          <p:cNvSpPr/>
          <p:nvPr/>
        </p:nvSpPr>
        <p:spPr>
          <a:xfrm>
            <a:off x="3357637" y="4240783"/>
            <a:ext cx="2428652" cy="186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🔍</a:t>
            </a:r>
            <a:r>
              <a:rPr lang="en-US" sz="11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Issue &amp; PR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357637" y="4479057"/>
            <a:ext cx="2428652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Hata takibi ve kod inceleme süreçleri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988248" y="4125292"/>
            <a:ext cx="2659559" cy="627013"/>
          </a:xfrm>
          <a:prstGeom prst="roundRect">
            <a:avLst>
              <a:gd name="adj" fmla="val 7419"/>
            </a:avLst>
          </a:prstGeom>
          <a:solidFill>
            <a:srgbClr val="2F1D63"/>
          </a:solidFill>
          <a:ln w="4763">
            <a:solidFill>
              <a:srgbClr val="48367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9"/>
          <p:cNvSpPr/>
          <p:nvPr/>
        </p:nvSpPr>
        <p:spPr>
          <a:xfrm>
            <a:off x="6103739" y="4240783"/>
            <a:ext cx="2428577" cy="186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🌍</a:t>
            </a:r>
            <a:r>
              <a:rPr lang="en-US" sz="11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Açık Kaynak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103739" y="4479057"/>
            <a:ext cx="2428577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Dünyayla paylaşım ve topluluk katkısı</a:t>
            </a:r>
            <a:endParaRPr lang="en-US" sz="850" dirty="0"/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B17FA350-18CD-6917-1D58-C1EE3B8E77CF}"/>
              </a:ext>
            </a:extLst>
          </p:cNvPr>
          <p:cNvSpPr/>
          <p:nvPr/>
        </p:nvSpPr>
        <p:spPr>
          <a:xfrm>
            <a:off x="7942006" y="4837471"/>
            <a:ext cx="1201994" cy="243348"/>
          </a:xfrm>
          <a:prstGeom prst="rect">
            <a:avLst/>
          </a:prstGeom>
          <a:solidFill>
            <a:srgbClr val="0D0626"/>
          </a:solidFill>
          <a:ln>
            <a:solidFill>
              <a:srgbClr val="0D0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22746"/>
            <a:ext cx="4722763" cy="712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Organization Sahnesi: Ekip Neden Farklı?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96119" y="1259681"/>
            <a:ext cx="4722763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Organizasyonlar, birden fazla ekibi tek çatı altında yönetir ve erişim kontrolünü düzenler. Aynı ana koda kim doğrudan dokunacak sorusu, süreç tasarımını belirler.</a:t>
            </a:r>
            <a:endParaRPr lang="en-US" sz="8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659731"/>
            <a:ext cx="271314" cy="27131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96119" y="2034853"/>
            <a:ext cx="4722763" cy="177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Çoklu Ekip Yönetimi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496119" y="2262708"/>
            <a:ext cx="4722763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Farklı ekipler aynı organizasyon altında bağımsız depolarda çalışabilir, yetkiler merkezi olarak yönetilir.</a:t>
            </a:r>
            <a:endParaRPr lang="en-US" sz="8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2735461"/>
            <a:ext cx="271314" cy="27131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96119" y="3110582"/>
            <a:ext cx="4722763" cy="177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Erişim Kontrolü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496119" y="3338438"/>
            <a:ext cx="4722763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Kimin hangi depoya yazabileceği, PR onaylayabileceği veya branch koruyabileceği detaylı şekilde tanımlanır.</a:t>
            </a:r>
            <a:endParaRPr lang="en-US" sz="8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811191"/>
            <a:ext cx="271314" cy="27131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96119" y="4186312"/>
            <a:ext cx="4722763" cy="177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Süreç Tasarımı</a:t>
            </a:r>
            <a:endParaRPr lang="en-US" sz="1100" dirty="0"/>
          </a:p>
        </p:txBody>
      </p:sp>
      <p:sp>
        <p:nvSpPr>
          <p:cNvPr id="13" name="Text 7"/>
          <p:cNvSpPr/>
          <p:nvPr/>
        </p:nvSpPr>
        <p:spPr>
          <a:xfrm>
            <a:off x="496119" y="4414168"/>
            <a:ext cx="4722763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 dala doğrudan erişim kısıtlanarak tüm değişiklikler PR ve review sürecinden geçmek zorunda kalır.</a:t>
            </a:r>
            <a:endParaRPr lang="en-US" sz="850" dirty="0"/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C92130E2-8BF3-4342-0516-AF80ABE6CD9C}"/>
              </a:ext>
            </a:extLst>
          </p:cNvPr>
          <p:cNvSpPr/>
          <p:nvPr/>
        </p:nvSpPr>
        <p:spPr>
          <a:xfrm>
            <a:off x="7942006" y="4837471"/>
            <a:ext cx="1201994" cy="243348"/>
          </a:xfrm>
          <a:prstGeom prst="rect">
            <a:avLst/>
          </a:prstGeom>
          <a:solidFill>
            <a:srgbClr val="0D0626"/>
          </a:solidFill>
          <a:ln>
            <a:solidFill>
              <a:srgbClr val="0D0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6673"/>
            <a:ext cx="8151763" cy="40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Komut Dili: Local Akış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496119" y="1030784"/>
            <a:ext cx="1428676" cy="188565"/>
          </a:xfrm>
          <a:prstGeom prst="roundRect">
            <a:avLst>
              <a:gd name="adj" fmla="val 22104"/>
            </a:avLst>
          </a:prstGeom>
          <a:solidFill>
            <a:srgbClr val="1C113B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533" y="1075432"/>
            <a:ext cx="99194" cy="9919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19286" y="1067991"/>
            <a:ext cx="1588294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TEMEL GIT KOMUTLARI</a:t>
            </a:r>
            <a:endParaRPr lang="en-US" sz="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2407" y="1341388"/>
            <a:ext cx="6339185" cy="290125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56361" y="3547955"/>
            <a:ext cx="1190142" cy="240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git pull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4756456" y="3547955"/>
            <a:ext cx="1190143" cy="240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git push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3264702" y="3547955"/>
            <a:ext cx="1190142" cy="240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git commit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740341" y="3547955"/>
            <a:ext cx="1190142" cy="240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git add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96119" y="4364682"/>
            <a:ext cx="8151763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git add</a:t>
            </a:r>
            <a:r>
              <a:rPr lang="en-US" sz="9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ile değişiklikleri stage alanına alırsın, </a:t>
            </a:r>
            <a:r>
              <a:rPr lang="en-US" sz="950" b="1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git commit</a:t>
            </a:r>
            <a:r>
              <a:rPr lang="en-US" sz="9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ile anlık durumu yerel olarak kaydedersin. </a:t>
            </a:r>
            <a:r>
              <a:rPr lang="en-US" sz="950" b="1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git push</a:t>
            </a:r>
            <a:r>
              <a:rPr lang="en-US" sz="9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ile commit'leri uzaktaki depoya gönderir, </a:t>
            </a:r>
            <a:r>
              <a:rPr lang="en-US" sz="950" b="1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git pull</a:t>
            </a:r>
            <a:r>
              <a:rPr lang="en-US" sz="9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ile uzaktakileri lokale getirirsin. Bu döngü, günlük geliştirme akışının temelini oluşturur.</a:t>
            </a:r>
            <a:endParaRPr lang="en-US" sz="950" dirty="0"/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C11C0E05-9E67-4187-8077-1CDAB802FC7D}"/>
              </a:ext>
            </a:extLst>
          </p:cNvPr>
          <p:cNvSpPr/>
          <p:nvPr/>
        </p:nvSpPr>
        <p:spPr>
          <a:xfrm>
            <a:off x="7993626" y="4867861"/>
            <a:ext cx="1111456" cy="226814"/>
          </a:xfrm>
          <a:prstGeom prst="rect">
            <a:avLst/>
          </a:prstGeom>
          <a:solidFill>
            <a:srgbClr val="0D0626"/>
          </a:solidFill>
          <a:ln>
            <a:solidFill>
              <a:srgbClr val="0D0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637059"/>
            <a:ext cx="5177582" cy="293392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024339" y="875109"/>
            <a:ext cx="647849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876CD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1"/>
          <p:cNvSpPr/>
          <p:nvPr/>
        </p:nvSpPr>
        <p:spPr>
          <a:xfrm>
            <a:off x="6109395" y="917600"/>
            <a:ext cx="934938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876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BRANCH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024339" y="1147167"/>
            <a:ext cx="2628230" cy="13954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Branch: Paralel Çalışmanın Zihni</a:t>
            </a:r>
            <a:endParaRPr lang="en-US" sz="2900" dirty="0"/>
          </a:p>
        </p:txBody>
      </p:sp>
      <p:sp>
        <p:nvSpPr>
          <p:cNvPr id="6" name="Text 3"/>
          <p:cNvSpPr/>
          <p:nvPr/>
        </p:nvSpPr>
        <p:spPr>
          <a:xfrm>
            <a:off x="6024339" y="2684413"/>
            <a:ext cx="2628230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Branching, </a:t>
            </a:r>
            <a:r>
              <a:rPr lang="en-US" sz="1100" b="1" dirty="0">
                <a:solidFill>
                  <a:srgbClr val="876CD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ana kodu etkilemeden</a:t>
            </a: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yeni özellik veya hata düzeltmesini izole bir ortamda geliştirmeyi sağlar.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9250" y="3894311"/>
            <a:ext cx="212601" cy="21260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56816" y="3889921"/>
            <a:ext cx="2138437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Güvenli Alan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956816" y="4207520"/>
            <a:ext cx="213843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 dal (main/master) dokunulmaz kalır, risk sıfıra iner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25564" y="3894311"/>
            <a:ext cx="212601" cy="21260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733130" y="3889921"/>
            <a:ext cx="2138437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Paralel Geliştirme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3733130" y="4207520"/>
            <a:ext cx="213843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Aynı anda birden fazla kişi farklı görevlerde güvenle ilerler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01879" y="3894311"/>
            <a:ext cx="212601" cy="21260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509445" y="3889921"/>
            <a:ext cx="2138437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Özel Branch İsimleri</a:t>
            </a:r>
            <a:endParaRPr lang="en-US" sz="1450" dirty="0"/>
          </a:p>
        </p:txBody>
      </p:sp>
      <p:sp>
        <p:nvSpPr>
          <p:cNvPr id="15" name="Text 9"/>
          <p:cNvSpPr/>
          <p:nvPr/>
        </p:nvSpPr>
        <p:spPr>
          <a:xfrm>
            <a:off x="6509445" y="4207520"/>
            <a:ext cx="2138437" cy="458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highlight>
                  <a:srgbClr val="19123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feature/login</a:t>
            </a: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100" dirty="0">
                <a:solidFill>
                  <a:srgbClr val="E0D6DE"/>
                </a:solidFill>
                <a:highlight>
                  <a:srgbClr val="19123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fix/payment-bug</a:t>
            </a: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gibi anlamlı isimler kullanın</a:t>
            </a:r>
            <a:endParaRPr lang="en-US" sz="1100" dirty="0"/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882399E0-1793-DBBB-EA0B-8DCD227817B5}"/>
              </a:ext>
            </a:extLst>
          </p:cNvPr>
          <p:cNvSpPr/>
          <p:nvPr/>
        </p:nvSpPr>
        <p:spPr>
          <a:xfrm>
            <a:off x="7993626" y="4867861"/>
            <a:ext cx="1111456" cy="226814"/>
          </a:xfrm>
          <a:prstGeom prst="rect">
            <a:avLst/>
          </a:prstGeom>
          <a:solidFill>
            <a:srgbClr val="0D0626"/>
          </a:solidFill>
          <a:ln>
            <a:solidFill>
              <a:srgbClr val="0D0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511299"/>
            <a:ext cx="4722763" cy="930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PR/MR Mantığı: "Ana dala katılma talebi"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3925119" y="1654225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Pull Request, bir branch'teki değişikliklerin ana projeye entegre edilmesi için </a:t>
            </a:r>
            <a:r>
              <a:rPr lang="en-US" sz="1100" b="1" dirty="0">
                <a:solidFill>
                  <a:srgbClr val="876CD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resmi bir istektir.</a:t>
            </a: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İnceleme, yorum ve gerekirse geri istekle kod kalitesi PR döngüsünde korunur.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2494136"/>
            <a:ext cx="4722763" cy="2138065"/>
          </a:xfrm>
          <a:prstGeom prst="roundRect">
            <a:avLst>
              <a:gd name="adj" fmla="val 2785"/>
            </a:avLst>
          </a:prstGeom>
          <a:solidFill>
            <a:srgbClr val="2F1D63"/>
          </a:solidFill>
          <a:ln w="4763">
            <a:solidFill>
              <a:srgbClr val="48367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3"/>
          <p:cNvSpPr/>
          <p:nvPr/>
        </p:nvSpPr>
        <p:spPr>
          <a:xfrm>
            <a:off x="3929881" y="2498899"/>
            <a:ext cx="2356619" cy="1291084"/>
          </a:xfrm>
          <a:prstGeom prst="rect">
            <a:avLst/>
          </a:prstGeom>
          <a:solidFill>
            <a:srgbClr val="2F1D6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4"/>
          <p:cNvSpPr/>
          <p:nvPr/>
        </p:nvSpPr>
        <p:spPr>
          <a:xfrm>
            <a:off x="4071640" y="2640657"/>
            <a:ext cx="2073101" cy="242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📤</a:t>
            </a:r>
            <a:r>
              <a:rPr lang="en-US" sz="14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Talep Oluştur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4071640" y="2967782"/>
            <a:ext cx="2073101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Değişikliklerini içeren branch'ten PR aç, ne yaptığını açıkla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86500" y="2498899"/>
            <a:ext cx="2356619" cy="1291084"/>
          </a:xfrm>
          <a:prstGeom prst="rect">
            <a:avLst/>
          </a:prstGeom>
          <a:solidFill>
            <a:srgbClr val="2F1D6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Shape 7"/>
          <p:cNvSpPr/>
          <p:nvPr/>
        </p:nvSpPr>
        <p:spPr>
          <a:xfrm>
            <a:off x="6286500" y="2498899"/>
            <a:ext cx="19050" cy="1291084"/>
          </a:xfrm>
          <a:prstGeom prst="roundRect">
            <a:avLst>
              <a:gd name="adj" fmla="val 312558"/>
            </a:avLst>
          </a:prstGeom>
          <a:solidFill>
            <a:srgbClr val="48367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8"/>
          <p:cNvSpPr/>
          <p:nvPr/>
        </p:nvSpPr>
        <p:spPr>
          <a:xfrm>
            <a:off x="6428259" y="2640657"/>
            <a:ext cx="2073101" cy="242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🔎</a:t>
            </a:r>
            <a:r>
              <a:rPr lang="en-US" sz="14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İnceleme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6428259" y="2967782"/>
            <a:ext cx="2073101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Ekip arkadaşları kodu yorumlar, öneride bulunur veya değişiklik ister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929881" y="3789983"/>
            <a:ext cx="4713238" cy="837456"/>
          </a:xfrm>
          <a:prstGeom prst="rect">
            <a:avLst/>
          </a:prstGeom>
          <a:solidFill>
            <a:srgbClr val="2F1D6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Shape 11"/>
          <p:cNvSpPr/>
          <p:nvPr/>
        </p:nvSpPr>
        <p:spPr>
          <a:xfrm>
            <a:off x="3929881" y="3789983"/>
            <a:ext cx="4713238" cy="19050"/>
          </a:xfrm>
          <a:prstGeom prst="roundRect">
            <a:avLst>
              <a:gd name="adj" fmla="val 312558"/>
            </a:avLst>
          </a:prstGeom>
          <a:solidFill>
            <a:srgbClr val="48367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Text 12"/>
          <p:cNvSpPr/>
          <p:nvPr/>
        </p:nvSpPr>
        <p:spPr>
          <a:xfrm>
            <a:off x="4071640" y="3931741"/>
            <a:ext cx="4429720" cy="242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r>
              <a:rPr lang="en-US" sz="14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Onay &amp; Birleştir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4071640" y="4258866"/>
            <a:ext cx="4429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Onay sonrası değişiklikler ana dala güvenle dahil edilir</a:t>
            </a:r>
            <a:endParaRPr lang="en-US" sz="1100" dirty="0"/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8BE59E83-61AD-BB1C-2FEE-3FDAB979B841}"/>
              </a:ext>
            </a:extLst>
          </p:cNvPr>
          <p:cNvSpPr/>
          <p:nvPr/>
        </p:nvSpPr>
        <p:spPr>
          <a:xfrm>
            <a:off x="7993626" y="4867861"/>
            <a:ext cx="1111456" cy="226814"/>
          </a:xfrm>
          <a:prstGeom prst="rect">
            <a:avLst/>
          </a:prstGeom>
          <a:solidFill>
            <a:srgbClr val="0D0626"/>
          </a:solidFill>
          <a:ln>
            <a:solidFill>
              <a:srgbClr val="0D0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25984"/>
            <a:ext cx="8151763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Branch → PR: Organizasyonda Standart Kapı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496119" y="1474663"/>
            <a:ext cx="1200373" cy="215354"/>
          </a:xfrm>
          <a:prstGeom prst="roundRect">
            <a:avLst>
              <a:gd name="adj" fmla="val 22119"/>
            </a:avLst>
          </a:prstGeom>
          <a:solidFill>
            <a:srgbClr val="1C113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581174" y="1517154"/>
            <a:ext cx="1487463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ADIM ADIM SÜREÇ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96119" y="1849487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96119" y="2071390"/>
            <a:ext cx="4004965" cy="19050"/>
          </a:xfrm>
          <a:prstGeom prst="rect">
            <a:avLst/>
          </a:prstGeom>
          <a:solidFill>
            <a:srgbClr val="9A81D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496119" y="2180332"/>
            <a:ext cx="400496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Feature Branch Oluştur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96119" y="2497931"/>
            <a:ext cx="4004965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highlight>
                  <a:srgbClr val="19123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-b feature/yeni-ozellik</a:t>
            </a: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ile izole bir branch aç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42842" y="1849487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42842" y="2071390"/>
            <a:ext cx="4005039" cy="19050"/>
          </a:xfrm>
          <a:prstGeom prst="rect">
            <a:avLst/>
          </a:prstGeom>
          <a:solidFill>
            <a:srgbClr val="9A81D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4642842" y="2180332"/>
            <a:ext cx="400503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Geliştir ve Push Et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642842" y="2497931"/>
            <a:ext cx="4005039" cy="463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Kodunu yaz, commit et ve </a:t>
            </a:r>
            <a:r>
              <a:rPr lang="en-US" sz="1100" dirty="0">
                <a:solidFill>
                  <a:srgbClr val="E0D6DE"/>
                </a:solidFill>
                <a:highlight>
                  <a:srgbClr val="19123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origin feature/yeni-ozellik</a:t>
            </a: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ile uzak depoya gönder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6119" y="3209106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6119" y="3416871"/>
            <a:ext cx="4004965" cy="19050"/>
          </a:xfrm>
          <a:prstGeom prst="rect">
            <a:avLst/>
          </a:prstGeom>
          <a:solidFill>
            <a:srgbClr val="9A81D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496119" y="3539951"/>
            <a:ext cx="400496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 Oluştur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96119" y="3857551"/>
            <a:ext cx="40049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GitHub'da </a:t>
            </a:r>
            <a:r>
              <a:rPr lang="en-US" sz="1100" b="1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Compare &amp; pull request</a:t>
            </a: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ile iki dalı seç, açıklama ekle ve PR aç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42842" y="3209106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42842" y="3416871"/>
            <a:ext cx="4005039" cy="19050"/>
          </a:xfrm>
          <a:prstGeom prst="rect">
            <a:avLst/>
          </a:prstGeom>
          <a:solidFill>
            <a:srgbClr val="9A81D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4642842" y="3539951"/>
            <a:ext cx="400503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Review ve Otomatik Kontroller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642842" y="3857551"/>
            <a:ext cx="400503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 review ve CI testleri hataları merge öncesi yakalar, kalite güvence altına alınır</a:t>
            </a:r>
            <a:endParaRPr lang="en-US" sz="1100" dirty="0"/>
          </a:p>
        </p:txBody>
      </p:sp>
      <p:sp>
        <p:nvSpPr>
          <p:cNvPr id="22" name="Dikdörtgen 21">
            <a:extLst>
              <a:ext uri="{FF2B5EF4-FFF2-40B4-BE49-F238E27FC236}">
                <a16:creationId xmlns:a16="http://schemas.microsoft.com/office/drawing/2014/main" id="{9A92AC7A-A035-D6DD-FCDA-622103500820}"/>
              </a:ext>
            </a:extLst>
          </p:cNvPr>
          <p:cNvSpPr/>
          <p:nvPr/>
        </p:nvSpPr>
        <p:spPr>
          <a:xfrm>
            <a:off x="7993626" y="4867861"/>
            <a:ext cx="1111456" cy="226814"/>
          </a:xfrm>
          <a:prstGeom prst="rect">
            <a:avLst/>
          </a:prstGeom>
          <a:solidFill>
            <a:srgbClr val="0D0626"/>
          </a:solidFill>
          <a:ln>
            <a:solidFill>
              <a:srgbClr val="0D0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898029"/>
            <a:ext cx="521940" cy="198462"/>
          </a:xfrm>
          <a:prstGeom prst="roundRect">
            <a:avLst>
              <a:gd name="adj" fmla="val 22126"/>
            </a:avLst>
          </a:prstGeom>
          <a:solidFill>
            <a:srgbClr val="1C113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74477" y="937171"/>
            <a:ext cx="822424" cy="120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MERGE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96119" y="1144637"/>
            <a:ext cx="2645866" cy="12863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Merge: "Onaylandı, artık ana dalda"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96119" y="2551435"/>
            <a:ext cx="2645866" cy="602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Merge, PR ile onaylanan değişiklikleri </a:t>
            </a:r>
            <a:r>
              <a:rPr lang="en-US" sz="1000" b="1" dirty="0">
                <a:solidFill>
                  <a:srgbClr val="876CD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ana dala birleştirir.</a:t>
            </a:r>
            <a:r>
              <a:rPr lang="en-US" sz="10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 içeriği kabul edilince değişiklikler ana kod tabanına dahil olur.</a:t>
            </a:r>
            <a:endParaRPr lang="en-US" sz="1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5537" y="542851"/>
            <a:ext cx="5187032" cy="293928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96119" y="3753148"/>
            <a:ext cx="2636937" cy="983010"/>
          </a:xfrm>
          <a:prstGeom prst="roundRect">
            <a:avLst>
              <a:gd name="adj" fmla="val 5584"/>
            </a:avLst>
          </a:prstGeom>
          <a:solidFill>
            <a:srgbClr val="0C0524">
              <a:alpha val="95000"/>
            </a:srgbClr>
          </a:solidFill>
          <a:ln w="14288">
            <a:solidFill>
              <a:srgbClr val="48367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5"/>
          <p:cNvSpPr/>
          <p:nvPr/>
        </p:nvSpPr>
        <p:spPr>
          <a:xfrm>
            <a:off x="641077" y="3898106"/>
            <a:ext cx="2347020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⚡</a:t>
            </a:r>
            <a:r>
              <a:rPr lang="en-US" sz="13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Hızlı Merge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41077" y="4189512"/>
            <a:ext cx="2347020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Çakışma yoksa tek tıkla birleştirme tamamlanır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53532" y="3753148"/>
            <a:ext cx="2636937" cy="983010"/>
          </a:xfrm>
          <a:prstGeom prst="roundRect">
            <a:avLst>
              <a:gd name="adj" fmla="val 5584"/>
            </a:avLst>
          </a:prstGeom>
          <a:solidFill>
            <a:srgbClr val="0C0524">
              <a:alpha val="95000"/>
            </a:srgbClr>
          </a:solidFill>
          <a:ln w="14288">
            <a:solidFill>
              <a:srgbClr val="48367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8"/>
          <p:cNvSpPr/>
          <p:nvPr/>
        </p:nvSpPr>
        <p:spPr>
          <a:xfrm>
            <a:off x="3398490" y="3898106"/>
            <a:ext cx="2347020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⚠️</a:t>
            </a:r>
            <a:r>
              <a:rPr lang="en-US" sz="13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Merge Conflict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3398490" y="4189512"/>
            <a:ext cx="2347020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Aynı satırlarda farklı değişiklikler varsa manuel çözüm gerekir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010945" y="3753148"/>
            <a:ext cx="2636937" cy="983010"/>
          </a:xfrm>
          <a:prstGeom prst="roundRect">
            <a:avLst>
              <a:gd name="adj" fmla="val 5584"/>
            </a:avLst>
          </a:prstGeom>
          <a:solidFill>
            <a:srgbClr val="0C0524">
              <a:alpha val="95000"/>
            </a:srgbClr>
          </a:solidFill>
          <a:ln w="14288">
            <a:solidFill>
              <a:srgbClr val="48367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1"/>
          <p:cNvSpPr/>
          <p:nvPr/>
        </p:nvSpPr>
        <p:spPr>
          <a:xfrm>
            <a:off x="6155903" y="3898106"/>
            <a:ext cx="2347020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🔗</a:t>
            </a:r>
            <a:r>
              <a:rPr lang="en-US" sz="13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Rebase Merge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155903" y="4189512"/>
            <a:ext cx="2347020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Temiz, doğrusal bir commit geçmişi için tercih edilen seçenek</a:t>
            </a:r>
            <a:endParaRPr lang="en-US" sz="1000" dirty="0"/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E6E387B7-BDDA-76DA-1A6D-AEA191F870C7}"/>
              </a:ext>
            </a:extLst>
          </p:cNvPr>
          <p:cNvSpPr/>
          <p:nvPr/>
        </p:nvSpPr>
        <p:spPr>
          <a:xfrm>
            <a:off x="7993626" y="4867861"/>
            <a:ext cx="1111456" cy="226814"/>
          </a:xfrm>
          <a:prstGeom prst="rect">
            <a:avLst/>
          </a:prstGeom>
          <a:solidFill>
            <a:srgbClr val="0D0626"/>
          </a:solidFill>
          <a:ln>
            <a:solidFill>
              <a:srgbClr val="0D0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11882"/>
            <a:ext cx="4722763" cy="8575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Sonuç: Temiz Tarihçe, Hızlı İşbirliği, Daha Az Risk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496119" y="1450107"/>
            <a:ext cx="2301106" cy="1365647"/>
          </a:xfrm>
          <a:prstGeom prst="roundRect">
            <a:avLst>
              <a:gd name="adj" fmla="val 4019"/>
            </a:avLst>
          </a:prstGeom>
          <a:solidFill>
            <a:srgbClr val="2F1D63"/>
          </a:solidFill>
          <a:ln w="4763">
            <a:solidFill>
              <a:srgbClr val="48367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2"/>
          <p:cNvSpPr/>
          <p:nvPr/>
        </p:nvSpPr>
        <p:spPr>
          <a:xfrm>
            <a:off x="631552" y="1585540"/>
            <a:ext cx="2030239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🔄</a:t>
            </a:r>
            <a:r>
              <a:rPr lang="en-US" sz="13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Temel Akış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31552" y="1876946"/>
            <a:ext cx="2030239" cy="602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git push → PR aç → incele → merge</a:t>
            </a:r>
            <a:r>
              <a:rPr lang="en-US" sz="10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; ana dal her zaman kontrollü ve kararlı büyür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917701" y="1450107"/>
            <a:ext cx="2301180" cy="1365647"/>
          </a:xfrm>
          <a:prstGeom prst="roundRect">
            <a:avLst>
              <a:gd name="adj" fmla="val 4019"/>
            </a:avLst>
          </a:prstGeom>
          <a:solidFill>
            <a:srgbClr val="2F1D63"/>
          </a:solidFill>
          <a:ln w="4763">
            <a:solidFill>
              <a:srgbClr val="48367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5"/>
          <p:cNvSpPr/>
          <p:nvPr/>
        </p:nvSpPr>
        <p:spPr>
          <a:xfrm>
            <a:off x="3053135" y="1585540"/>
            <a:ext cx="2030313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🤖</a:t>
            </a:r>
            <a:r>
              <a:rPr lang="en-US" sz="13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Otomasyon Gücü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053135" y="1876946"/>
            <a:ext cx="2030313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 / GitHub Actions, her PR'da test ve kalite adımlarını otomatik çalıştırarak "hatalı kod" maliyetini düşürür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96119" y="2936230"/>
            <a:ext cx="4722763" cy="963960"/>
          </a:xfrm>
          <a:prstGeom prst="roundRect">
            <a:avLst>
              <a:gd name="adj" fmla="val 5694"/>
            </a:avLst>
          </a:prstGeom>
          <a:solidFill>
            <a:srgbClr val="2F1D63"/>
          </a:solidFill>
          <a:ln w="4763">
            <a:solidFill>
              <a:srgbClr val="48367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8"/>
          <p:cNvSpPr/>
          <p:nvPr/>
        </p:nvSpPr>
        <p:spPr>
          <a:xfrm>
            <a:off x="631552" y="3071664"/>
            <a:ext cx="4451896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🏆</a:t>
            </a:r>
            <a:r>
              <a:rPr lang="en-US" sz="13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Kültür Değişimi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31552" y="3363069"/>
            <a:ext cx="4451896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kültürü, kolektif kod sahipliği ve şeffaf süreçlerle ekip kalitesi sürekli yükselir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96119" y="4035698"/>
            <a:ext cx="4722763" cy="695920"/>
          </a:xfrm>
          <a:prstGeom prst="roundRect">
            <a:avLst>
              <a:gd name="adj" fmla="val 7887"/>
            </a:avLst>
          </a:prstGeom>
          <a:solidFill>
            <a:srgbClr val="2F1D6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90" y="4222775"/>
            <a:ext cx="163339" cy="13067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20800" y="4188842"/>
            <a:ext cx="4167411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GitHub'da branch koruma kuralları ve otomatik merge kontrollerini aktif ederek ekibinizin standartlarını zorunlu kılın.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674</Words>
  <Application>Microsoft Office PowerPoint</Application>
  <PresentationFormat>Ekran Gösterisi (16:9)</PresentationFormat>
  <Paragraphs>91</Paragraphs>
  <Slides>10</Slides>
  <Notes>10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7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10</vt:i4>
      </vt:variant>
    </vt:vector>
  </HeadingPairs>
  <TitlesOfParts>
    <vt:vector size="18" baseType="lpstr">
      <vt:lpstr>Petrona Bold</vt:lpstr>
      <vt:lpstr>Inter Bold</vt:lpstr>
      <vt:lpstr>Arial</vt:lpstr>
      <vt:lpstr>Consolas</vt:lpstr>
      <vt:lpstr>Petrona Light</vt:lpstr>
      <vt:lpstr>Twemoji Mozilla</vt:lpstr>
      <vt:lpstr>Inter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Nisa Erdem</cp:lastModifiedBy>
  <cp:revision>3</cp:revision>
  <dcterms:created xsi:type="dcterms:W3CDTF">2026-07-26T17:12:49Z</dcterms:created>
  <dcterms:modified xsi:type="dcterms:W3CDTF">2026-07-26T19:32:02Z</dcterms:modified>
</cp:coreProperties>
</file>